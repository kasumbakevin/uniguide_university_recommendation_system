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UniGuide Uganda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FE3DC"/>
                </a:solidFill>
                <a:latin typeface="Calibri"/>
              </a:rPr>
              <a:t>AI-Powered University and Course Recommendation System for Students in Uganda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Project Proposal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FB8C9"/>
                </a:solidFill>
                <a:latin typeface="Calibri"/>
              </a:rPr>
              <a:t>Sunday 11th October 2026  |  10:15 AM  |  Wi-Fi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8C9"/>
                </a:solidFill>
                <a:latin typeface="Calibri"/>
              </a:rPr>
              <a:t>Group Members: [Add your group member names here]
Course / Module: [Add module name]   |   Supervisor: [Add supervisor]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Novelty: What is new and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444B54"/>
                </a:solidFill>
                <a:latin typeface="Calibri"/>
              </a:rPr>
              <a:t>- No open, reusable Uganda admission dataset exists - we build one from official sources.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B54"/>
                </a:solidFill>
                <a:latin typeface="Calibri"/>
              </a:rPr>
              <a:t>- Source-verified and traceable: every programme row cites the NCHE register or an official PDF.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B54"/>
                </a:solidFill>
                <a:latin typeface="Calibri"/>
              </a:rPr>
              <a:t>- Explainable by design: rule-based eligibility + a transparent ML layer, not a black box.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B54"/>
                </a:solidFill>
                <a:latin typeface="Calibri"/>
              </a:rPr>
              <a:t>- Models local admission constructs: UACE subject combinations, government vs private cut-off schemes, international (NCHE) qualifications.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D6E"/>
                </a:solidFill>
                <a:latin typeface="Calibr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402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Thousands of UACE leavers choose courses each year with scattered, outdated information.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Wrong choices cost students years of study and fees; upcountry students are worst affected.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Data (cut-offs, fees) changes every academic year and lives in PDFs - so we automate extraction and validation instead of hard-coding values.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Existing tools are global/US-UK focused; none model Uganda cut-off points or NCHE entry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Dataset: source, contents and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D6E"/>
                </a:solidFill>
                <a:latin typeface="Calibri"/>
              </a:rPr>
              <a:t>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National Council for Higher Education (NCHE) accredited-programme register (CSV export).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Official university cut-off-point and fee PDFs (e.g. Makerere, PUJAB schedules) and university programme catalogues.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D6E"/>
                </a:solidFill>
                <a:latin typeface="Calibri"/>
              </a:rPr>
              <a:t>What it contains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Programme name, awarding institution, qualification level, institution type, NCHE tier discipline, accreditation dates, district.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Admission details: essential/relevant subjects, minimum grades, government and private cut-off points, tuition fees, academic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7D6E"/>
                </a:solidFill>
                <a:latin typeface="Calibri"/>
              </a:rPr>
              <a:t>How it was collected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Public official documents were downloaded, then parsed by an automated pipeline (CSV/Excel readers + PDF table/text extraction) into one verified catalogue.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Features: the input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27D6E"/>
                </a:solidFill>
                <a:latin typeface="Calibri"/>
              </a:rPr>
              <a:t>What each variable represents and how it is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480560"/>
              </a:tblGrid>
              <a:tr h="5486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Role in the model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Programme / course name (text)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Main signal - keywords indicate the field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Awarding university/college (category)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Institution specialisation (e.g. MUBS = business)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qualification_level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Certificate/Diploma/Bachelor/Masters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Level of the award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institution_type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Public or 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Sector of the awarding body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Location district (context)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Regional context; used in the app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27D6E"/>
                </a:solidFill>
                <a:latin typeface="Calibri"/>
              </a:rPr>
              <a:t>Engineered inputs: TF-IDF word n-grams (1-2) over programme + institution text, plus one-hot encoding of the categorical variables above.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Number of records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0292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Model training dataset</a:t>
                      </a:r>
                    </a:p>
                  </a:txBody>
                  <a:tcPr>
                    <a:solidFill>
                      <a:srgbClr val="EC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3,622 records, 12 classes</a:t>
                      </a:r>
                    </a:p>
                  </a:txBody>
                  <a:tcPr>
                    <a:solidFill>
                      <a:srgbClr val="ECF2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NCHE accredited programmes (clean)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3,622 (from 3,753 raw)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NCHE institutions (clean)</a:t>
                      </a:r>
                    </a:p>
                  </a:txBody>
                  <a:tcPr>
                    <a:solidFill>
                      <a:srgbClr val="EC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153 (from 178 raw)</a:t>
                      </a:r>
                    </a:p>
                  </a:txBody>
                  <a:tcPr>
                    <a:solidFill>
                      <a:srgbClr val="ECF2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University catalogue entries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Curated seed programmes</a:t>
                      </a:r>
                    </a:p>
                  </a:txBody>
                  <a:tcPr>
                    <a:solidFill>
                      <a:srgbClr val="EC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75 across 11 universities</a:t>
                      </a:r>
                    </a:p>
                  </a:txBody>
                  <a:tcPr>
                    <a:solidFill>
                      <a:srgbClr val="ECF2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Cut-off rows extracted from PDFs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Career paths</a:t>
                      </a:r>
                    </a:p>
                  </a:txBody>
                  <a:tcPr>
                    <a:solidFill>
                      <a:srgbClr val="EC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21</a:t>
                      </a:r>
                    </a:p>
                  </a:txBody>
                  <a:tcPr>
                    <a:solidFill>
                      <a:srgbClr val="ECF2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27D6E"/>
                </a:solidFill>
                <a:latin typeface="Calibri"/>
              </a:rPr>
              <a:t>The classification target is defined for 3,622 records; the 12 classes are imbalanced (largest: Business; smallest: STEM).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Target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27D6E"/>
                </a:solidFill>
                <a:latin typeface="Calibri"/>
              </a:rPr>
              <a:t>What the model predicts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A43"/>
                </a:solidFill>
                <a:latin typeface="Calibri"/>
              </a:rPr>
              <a:t>Target: discipline - the NCHE Tier Discipline of a programme (12 classes).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7D6E"/>
                </a:solidFill>
                <a:latin typeface="Calibri"/>
              </a:rPr>
              <a:t>Class distribution (records per class)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10896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3017520"/>
                <a:gridCol w="2560320"/>
              </a:tblGrid>
              <a:tr h="35269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Discipline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Records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Discipline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Records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100"/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192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100"/>
                        <a:t>Social and Behavioral 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Life 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188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10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103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100"/>
                        <a:t>Physical Sciences and Mathematics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43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100"/>
                        <a:t>Medicine and Health 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</a:t>
                      </a:r>
                    </a:p>
                  </a:txBody>
                  <a:tcPr/>
                </a:tc>
              </a:tr>
              <a:tr h="352698">
                <a:tc>
                  <a:txBody>
                    <a:bodyPr/>
                    <a:lstStyle/>
                    <a:p>
                      <a:r>
                        <a:rPr sz="1100"/>
                        <a:t>Arts and Humanities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27D6E"/>
                </a:solidFill>
                <a:latin typeface="Calibri"/>
              </a:rPr>
              <a:t>This is a supervised multi-class classification task (not admission outcome prediction - no student outcome labels exist in the data).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Testing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7D6E"/>
                </a:solidFill>
                <a:latin typeface="Calibri"/>
              </a:rPr>
              <a:t>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Stratified 60/20/20 train/validation/test = 2,172 / 725 / 725 records (stratified to preserve the 12 classes).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7D6E"/>
                </a:solidFill>
                <a:latin typeface="Calibri"/>
              </a:rPr>
              <a:t>Models 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Logistic Regression (TF-IDF + one-hot), Decision Tree, and Random Forest. Best selected on validation macro-F1.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7D6E"/>
                </a:solidFill>
                <a:latin typeface="Calibri"/>
              </a:rPr>
              <a:t>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B54"/>
                </a:solidFill>
                <a:latin typeface="Calibri"/>
              </a:rPr>
              <a:t>- Accuracy, macro-averaged precision/recall/F1 and a confusion matrix. Macro-F1 is the headline metric because the classes are imbalanced.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7D6E"/>
                </a:solidFill>
                <a:latin typeface="Calibri"/>
              </a:rPr>
              <a:t>Results (held-out test set)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2A43"/>
                </a:solidFill>
                <a:latin typeface="Calibri"/>
              </a:rPr>
              <a:t>Best model: Logistic Regression  |  Accuracy = 0.873  |  Macro-F1 = 0.709
Recommender: content-based TF-IDF cosine; Precision@5 = 0.1143, Recall@5 = 0.0562, NDCG@5 = 0.1029 (proxy labels from careers.csv)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Expected contribution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444B54"/>
                </a:solidFill>
                <a:latin typeface="Calibri"/>
              </a:rPr>
              <a:t>- A verified Uganda admissions dataset plus a reproducible data pipeline (clean, dedupe, validate, merge).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44B54"/>
                </a:solidFill>
                <a:latin typeface="Calibri"/>
              </a:rPr>
              <a:t>- An explainable recommendation engine that turns a student's grades into a justified shortlist.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44B54"/>
                </a:solidFill>
                <a:latin typeface="Calibri"/>
              </a:rPr>
              <a:t>- Tested model performance: 0.873 accuracy / 0.709 macro-F1 for discipline classification.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44B54"/>
                </a:solidFill>
                <a:latin typeface="Calibri"/>
              </a:rPr>
              <a:t>- Next: integrate the ML ranking layer into the student recommender, and add OCR for scanned PDFs.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212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7D6E"/>
                </a:solidFill>
                <a:latin typeface="Calibri"/>
              </a:rPr>
              <a:t>Thank you -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